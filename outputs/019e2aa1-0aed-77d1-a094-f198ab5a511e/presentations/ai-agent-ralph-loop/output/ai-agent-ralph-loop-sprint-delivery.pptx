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b37826a6ea4af6" /><Relationship Type="http://schemas.openxmlformats.org/officeDocument/2006/relationships/extended-properties" Target="/docProps/app.xml" Id="Rb5cc0a4c2eb141d0" /><Relationship Type="http://schemas.openxmlformats.org/officeDocument/2006/relationships/officeDocument" Target="/ppt/presentation.xml" Id="R5c8d40f3aaff4d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8696a1b1d5454b"/>
  </p:sldMasterIdLst>
  <p:notesMasterIdLst>
    <p:notesMasterId xmlns:r="http://schemas.openxmlformats.org/officeDocument/2006/relationships" r:id="Rfe988130990b4355"/>
  </p:notesMasterIdLst>
  <p:sldIdLst>
    <p:sldId xmlns:r="http://schemas.openxmlformats.org/officeDocument/2006/relationships" id="256" r:id="Rfd8708d963e84806"/>
    <p:sldId xmlns:r="http://schemas.openxmlformats.org/officeDocument/2006/relationships" id="257" r:id="Rd4113fac94ac40ad"/>
    <p:sldId xmlns:r="http://schemas.openxmlformats.org/officeDocument/2006/relationships" id="258" r:id="R4ddfe276798340d6"/>
    <p:sldId xmlns:r="http://schemas.openxmlformats.org/officeDocument/2006/relationships" id="259" r:id="R2d562ab53d614362"/>
    <p:sldId xmlns:r="http://schemas.openxmlformats.org/officeDocument/2006/relationships" id="260" r:id="R0a797cbeea8a4b5c"/>
    <p:sldId xmlns:r="http://schemas.openxmlformats.org/officeDocument/2006/relationships" id="261" r:id="R4c9f7ba71a484e32"/>
    <p:sldId xmlns:r="http://schemas.openxmlformats.org/officeDocument/2006/relationships" id="262" r:id="R18f12ee26c7549a8"/>
    <p:sldId xmlns:r="http://schemas.openxmlformats.org/officeDocument/2006/relationships" id="263" r:id="Rc6906a759fd24a81"/>
    <p:sldId xmlns:r="http://schemas.openxmlformats.org/officeDocument/2006/relationships" id="264" r:id="R49906dff7fc246f6"/>
    <p:sldId xmlns:r="http://schemas.openxmlformats.org/officeDocument/2006/relationships" id="265" r:id="R801fd06a195744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696a1b1d5454b" /><Relationship Type="http://schemas.openxmlformats.org/officeDocument/2006/relationships/theme" Target="/ppt/theme/theme1.xml" Id="Re3e61ba7652b4626" /><Relationship Type="http://schemas.openxmlformats.org/officeDocument/2006/relationships/notesMaster" Target="/ppt/notesMasters/notesMaster1.xml" Id="Rfe988130990b4355" /><Relationship Type="http://schemas.openxmlformats.org/officeDocument/2006/relationships/presProps" Target="/ppt/presProps.xml" Id="R461ebe738c7641be" /><Relationship Type="http://schemas.openxmlformats.org/officeDocument/2006/relationships/viewProps" Target="/ppt/viewProps.xml" Id="Ra78fdb32defc4fc1" /><Relationship Type="http://schemas.openxmlformats.org/officeDocument/2006/relationships/tableStyles" Target="/ppt/tableStyles.xml" Id="R5b1f487f751e4d6a" /><Relationship Type="http://schemas.openxmlformats.org/officeDocument/2006/relationships/slide" Target="/ppt/slides/slide1.xml" Id="Rfd8708d963e84806" /><Relationship Type="http://schemas.openxmlformats.org/officeDocument/2006/relationships/slide" Target="/ppt/slides/slide2.xml" Id="Rd4113fac94ac40ad" /><Relationship Type="http://schemas.openxmlformats.org/officeDocument/2006/relationships/slide" Target="/ppt/slides/slide3.xml" Id="R4ddfe276798340d6" /><Relationship Type="http://schemas.openxmlformats.org/officeDocument/2006/relationships/slide" Target="/ppt/slides/slide4.xml" Id="R2d562ab53d614362" /><Relationship Type="http://schemas.openxmlformats.org/officeDocument/2006/relationships/slide" Target="/ppt/slides/slide5.xml" Id="R0a797cbeea8a4b5c" /><Relationship Type="http://schemas.openxmlformats.org/officeDocument/2006/relationships/slide" Target="/ppt/slides/slide6.xml" Id="R4c9f7ba71a484e32" /><Relationship Type="http://schemas.openxmlformats.org/officeDocument/2006/relationships/slide" Target="/ppt/slides/slide7.xml" Id="R18f12ee26c7549a8" /><Relationship Type="http://schemas.openxmlformats.org/officeDocument/2006/relationships/slide" Target="/ppt/slides/slide8.xml" Id="Rc6906a759fd24a81" /><Relationship Type="http://schemas.openxmlformats.org/officeDocument/2006/relationships/slide" Target="/ppt/slides/slide9.xml" Id="R49906dff7fc246f6" /><Relationship Type="http://schemas.openxmlformats.org/officeDocument/2006/relationships/slide" Target="/ppt/slides/slide10.xml" Id="R801fd06a195744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bfe50b4dba8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e3e39062464ec2" /><Relationship Type="http://schemas.openxmlformats.org/officeDocument/2006/relationships/notesMaster" Target="/ppt/notesMasters/notesMaster1.xml" Id="R7f3e9d5a3c5e41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07d941e6834e51" /><Relationship Type="http://schemas.openxmlformats.org/officeDocument/2006/relationships/notesMaster" Target="/ppt/notesMasters/notesMaster1.xml" Id="R650c083d453446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0a6a1a02fd46e6" /><Relationship Type="http://schemas.openxmlformats.org/officeDocument/2006/relationships/notesMaster" Target="/ppt/notesMasters/notesMaster1.xml" Id="R30c92e25b63c42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23ec681fd94bc4" /><Relationship Type="http://schemas.openxmlformats.org/officeDocument/2006/relationships/notesMaster" Target="/ppt/notesMasters/notesMaster1.xml" Id="R41fbe61c27dd49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221caf890a487b" /><Relationship Type="http://schemas.openxmlformats.org/officeDocument/2006/relationships/notesMaster" Target="/ppt/notesMasters/notesMaster1.xml" Id="R4150621f1e904e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e181e8033a438e" /><Relationship Type="http://schemas.openxmlformats.org/officeDocument/2006/relationships/notesMaster" Target="/ppt/notesMasters/notesMaster1.xml" Id="Ra73e2449b0c64a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87e17985624385" /><Relationship Type="http://schemas.openxmlformats.org/officeDocument/2006/relationships/notesMaster" Target="/ppt/notesMasters/notesMaster1.xml" Id="Rd6de84b42ed441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b30aba0e884f97" /><Relationship Type="http://schemas.openxmlformats.org/officeDocument/2006/relationships/notesMaster" Target="/ppt/notesMasters/notesMaster1.xml" Id="R32286e9b639848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dad44ec47e43fb" /><Relationship Type="http://schemas.openxmlformats.org/officeDocument/2006/relationships/notesMaster" Target="/ppt/notesMasters/notesMaster1.xml" Id="R5b2fb24535bd46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87871f73a94a0e" /><Relationship Type="http://schemas.openxmlformats.org/officeDocument/2006/relationships/notesMaster" Target="/ppt/notesMasters/notesMaster1.xml" Id="R84f38dc5b82546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fade in title first, then reveal LLM, AI agent, and Ralph loop as three successive builds. End by revealing the two bottom pills together to connect speed with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build the numbered route from left to right. Pause at step 2 to explain the difference, then continue to Ralph and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reveal the center LLM first, then orbit capabilities clockwise. Use the final sentence as the transition into agents.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show the LLM-only lane first, then the red bridge, then the AI agent lane step by step. Finish with the bottom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reveal the center runtime, then build Perceive, Plan, Act, Verify in a clockwise loop. Then reveal the four support bullets at the bottom.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build the stack from the top down. When CLIs appear, reveal the Yalla example panel to make the component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reveal the center repeat statement, then build nodes 1 through 5 around the loop. Show the green verification callout last.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reveal the timeline columns, then the story lanes one at a time. Emphasize that speed comes from parallel bounded loops while checks stay intact.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reveal the table row by row. For each risk, click once to show the control and evidence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Animation: reveal the three rollout phases in order, then reveal the decision ask. Keep the close focused on governance plus measurable acceleration.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cc1dbf673411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bec207ae064b74" /><Relationship Type="http://schemas.openxmlformats.org/officeDocument/2006/relationships/slideLayout" Target="/ppt/slideLayouts/slideLayout2.xml" Id="Raa3b38add60140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3b38add60140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8d0bee98b4739" /><Relationship Type="http://schemas.openxmlformats.org/officeDocument/2006/relationships/image" Target="/ppt/media/image.png" Id="R84f1decbbab64c45" /><Relationship Type="http://schemas.openxmlformats.org/officeDocument/2006/relationships/notesSlide" Target="/ppt/notesSlides/notesSlide1.xml" Id="R1470cba7e63d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dcd411fff4d84" /><Relationship Type="http://schemas.openxmlformats.org/officeDocument/2006/relationships/notesSlide" Target="/ppt/notesSlides/notesSlide2.xml" Id="Rcc1f39c93475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b203f514f84cec" /><Relationship Type="http://schemas.openxmlformats.org/officeDocument/2006/relationships/notesSlide" Target="/ppt/notesSlides/notesSlide3.xml" Id="R37c04edb5a5c43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b4845a441403b" /><Relationship Type="http://schemas.openxmlformats.org/officeDocument/2006/relationships/notesSlide" Target="/ppt/notesSlides/notesSlide4.xml" Id="Ree493ef93764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c8f3219eda49b4" /><Relationship Type="http://schemas.openxmlformats.org/officeDocument/2006/relationships/notesSlide" Target="/ppt/notesSlides/notesSlide5.xml" Id="R9bf5b653e38f47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85b33f18be4f1f" /><Relationship Type="http://schemas.openxmlformats.org/officeDocument/2006/relationships/image" Target="/ppt/media/image2.png" Id="Rccfe1e66e14e4f05" /><Relationship Type="http://schemas.openxmlformats.org/officeDocument/2006/relationships/notesSlide" Target="/ppt/notesSlides/notesSlide6.xml" Id="Rbf8a1fae8f544a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f60dff4e83454a" /><Relationship Type="http://schemas.openxmlformats.org/officeDocument/2006/relationships/notesSlide" Target="/ppt/notesSlides/notesSlide7.xml" Id="Rc71fd5425ada40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0d5bec9c1467c" /><Relationship Type="http://schemas.openxmlformats.org/officeDocument/2006/relationships/notesSlide" Target="/ppt/notesSlides/notesSlide8.xml" Id="R5a210d48061d4c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1c916a19f74b66" /><Relationship Type="http://schemas.openxmlformats.org/officeDocument/2006/relationships/notesSlide" Target="/ppt/notesSlides/notesSlide9.xml" Id="R2705ea0f91574e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af52c52124ca7" /><Relationship Type="http://schemas.openxmlformats.org/officeDocument/2006/relationships/image" Target="/ppt/media/image3.png" Id="Rf8a9e2692ddd41fb" /><Relationship Type="http://schemas.openxmlformats.org/officeDocument/2006/relationships/notesSlide" Target="/ppt/notesSlides/notesSlide10.xml" Id="Rb91195c4df9b4e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46576E2-AC68-4F13-9E95-AF430C58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849629-B722-4B56-A36F-32B8ED55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A885A3-0928-4720-93E0-48223554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E4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E4D6"/>
                </a:solidFill>
                <a:latin typeface="Aptos"/>
                <a:ea typeface="Aptos"/>
                <a:cs typeface="Aptos"/>
              </a:rPr>
              <a:t>INITIATIVE FRAMING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1decbbab64c45"/>
          <a:stretch xmlns:a="http://schemas.openxmlformats.org/drawingml/2006/main"/>
        </p:blipFill>
        <p:spPr>
          <a:xfrm xmlns:a="http://schemas.openxmlformats.org/drawingml/2006/main">
            <a:off x="990832" y="5581650"/>
            <a:ext cx="38053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C28D6-3D48-479B-AFD5-1576F4A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57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agents turn LLM capability into verified sprint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341AC-9224-4AA0-A5EC-73A2D4C6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D9E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5D9E0"/>
                </a:solidFill>
                <a:latin typeface="Aptos"/>
                <a:ea typeface="Aptos"/>
                <a:cs typeface="Aptos"/>
              </a:rPr>
              <a:t>A production-grade way to move from language reasoning to autonomous implementation loops: skills, MCPs, CLIs, verification, and Ralph.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D7F1F-1977-46D9-A30B-586083AD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90625"/>
            <a:ext cx="3638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4651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85FD7-FC6B-4461-BE77-11101B0A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430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48D20-5EDA-4351-A51F-29FA9B5D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573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C7D2"/>
                </a:solidFill>
                <a:latin typeface="Aptos"/>
                <a:ea typeface="Aptos"/>
                <a:cs typeface="Aptos"/>
              </a:rPr>
              <a:t>reason, draft, summarize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1CCF8-968E-4BFE-BBDC-843210C8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419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EE0CD-8A20-4571-90BB-0CA8B057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574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95B1F-52A3-4FBD-B21E-06295578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47925"/>
            <a:ext cx="3638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B2517"/>
          </a:solidFill>
          <a:ln xmlns:a="http://schemas.openxmlformats.org/drawingml/2006/main" w="9525">
            <a:solidFill>
              <a:srgbClr val="465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2D00A-3069-45FC-9E6F-DB96D566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003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17E3B-B4F3-484A-881C-352F608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C7D2"/>
                </a:solidFill>
                <a:latin typeface="Aptos"/>
                <a:ea typeface="Aptos"/>
                <a:cs typeface="Aptos"/>
              </a:rPr>
              <a:t>plan, call tools, inspect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27833-60B7-4572-95AF-BFBA953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765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FDE08-D7D5-429E-B7C2-39A26D1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AB6B3-1966-46D7-8E41-BBAF2E7F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05225"/>
            <a:ext cx="3638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2A21"/>
          </a:solidFill>
          <a:ln xmlns:a="http://schemas.openxmlformats.org/drawingml/2006/main" w="9525">
            <a:solidFill>
              <a:srgbClr val="465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4C728-28CA-411C-8C79-A27DC6B5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576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Ralph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FDE43-EAA5-42B4-87A5-BBC77097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19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C7D2"/>
                </a:solidFill>
                <a:latin typeface="Aptos"/>
                <a:ea typeface="Aptos"/>
                <a:cs typeface="Aptos"/>
              </a:rPr>
              <a:t>implement, verify, commit, repeat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1956F-9C51-4AD1-836F-E26F6FF6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933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749C5-D08D-42E7-AEE2-81C70D90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57800"/>
            <a:ext cx="2171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5D3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09777-8564-43BF-8F17-9631F7B0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2447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target: sprint stories in hours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8B58F-F9DA-4A05-964D-B7D89596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09AC6-8B53-4A75-8772-2EB74607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244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bounded by verification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7E04C3-26B6-4646-95C2-2690A5A3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33B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46BF5-7715-4FBB-8DD4-CD9BC2C1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C7D2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8FD60-1CFA-46BD-B68E-4A7F3DBD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C7D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56474132"/>
      </p:ext>
    </p:extLst>
  </p:cSld>
  <p:transition spd="med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51FC470-A8F4-4B8D-A25E-B0C00F3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C77268-8775-4F02-975C-46B13AB1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F6451E-54DE-4F08-8496-983127F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RECOMMENDED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7C4BD-2900-4763-B290-AF368B93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Present the initiative as a progression from reasoning to delivery.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5D2B2-D63A-49D1-A795-98EE6B1F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9AE9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0545A-11C3-4717-BD62-40788935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EE653-9573-46F7-AB70-2B30361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87EE8-95F1-4B71-961E-ED1F9CBA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LLM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29E31-6609-4CED-9205-604991B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8481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What the model can produce from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0F658-6B87-43C3-94E9-E84F56B3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52750"/>
            <a:ext cx="1333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9AE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323DD-56FD-4A5B-B219-5EFB9099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813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54154-E48D-4225-83F7-1A092C8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909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24AF6-D99A-4ADE-8B91-85DDD151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291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Agent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F7CB3-79A9-4748-8C4B-B2A8C253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Why execution needs state, tools, and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E7260-A723-4E0E-8080-473CBF0B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1333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9AE9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3E483-B093-4864-A71F-7081D614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AD0EA-7359-41E7-B00F-7A78950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E7BB1-5E3D-45A0-BA28-DE8C9302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Agent components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56919-1EC7-43DE-A464-55B52E0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Skills, MCPs, CLIs, repo, memory, policy.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72F6C-2271-4ECE-9E98-6B5727C5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333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9AE9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7166D-300D-4AAE-9190-3234257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036EC-7551-4848-B749-14FC41E0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8B33D-BD27-401E-A933-4EB71438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Ralph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5A8E8-185F-43BC-A6B2-AC41380B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720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repeatable loop for sprint stories.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B4898-107D-4D3B-8F98-6C84EE48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52750"/>
            <a:ext cx="1333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9AE9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4E679-9003-4E8E-8F91-0FDD667F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CAE95-DD24-48BF-BB4A-FB187F45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33E070-F13D-47D4-A948-515DC8C1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0520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Production controls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09F83E-8302-417F-B193-44847B69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Verification, audit, permissions, rollback.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92A76B-C760-4835-8B64-57D1BD38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52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9C59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45608A-A123-40E6-9AE6-27B19D2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899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The viewer should feel the core shift: LLMs produce useful thinking; agents turn that thinking into governed action.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9BA5AC-2CC0-4FD5-9602-4534FE36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81817F-9270-4F05-850F-954272EA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000A3D-2CFB-4A9F-915D-4746CF7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6821962"/>
      </p:ext>
    </p:extLst>
  </p:cSld>
  <p:transition spd="med">
    <p:fade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79B3307-616B-49BA-9E9B-AC3A17BF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DBAFE8-6C0B-4953-9C87-B13E5443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BEA48BF-DEA6-4520-BDC3-CB1B0F2B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LLM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94272-01DC-46BF-A2DE-5D0641E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LLM is the reasoning core: it turns context into decisions and artifacts.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BD314-1E16-45A8-BAF9-D5F5D6D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76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5DF93-12BA-49A5-95E5-B112FE1E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718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B47F3-26D6-4D2F-B65C-1CE727F4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DE4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4EE"/>
                </a:solidFill>
                <a:latin typeface="Aptos"/>
                <a:ea typeface="Aptos"/>
                <a:cs typeface="Aptos"/>
              </a:rPr>
              <a:t>language model</a:t>
            </a:r>
          </a:p>
          <a:p xmlns:a="http://schemas.openxmlformats.org/drawingml/2006/main">
            <a:pPr algn="ctr">
              <a:defRPr sz="1200" b="0">
                <a:solidFill>
                  <a:srgbClr val="DDE4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4EE"/>
                </a:solidFill>
                <a:latin typeface="Aptos"/>
                <a:ea typeface="Aptos"/>
                <a:cs typeface="Aptos"/>
              </a:rPr>
              <a:t>reasoning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AC8BC-556C-471C-8120-EFD27869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-3238500" cy="-11334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F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42EB2-9184-4638-B86F-2528C6A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24050"/>
            <a:ext cx="148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3291D-216D-4833-BD71-319CDBDE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Synthesize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436D5-8352-496F-A964-9F1982D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336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summaries, decisions, tradeoffs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3B401-B46C-4F88-8D35-57278A02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-476250" cy="-14001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F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C1138-4C30-4832-B58B-3D666A2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148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3BA3A-0E5F-4E1B-943F-C185BF69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907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5D3F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CF961-D216-4461-984B-FBE38A3C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669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code, copy, tests, configs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0AAC5-1E74-49F8-900E-885834FF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2305050" cy="-11334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F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148F9-9757-403E-8B94-2DB2486D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24050"/>
            <a:ext cx="148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C9E99-BD5A-451D-BB8D-4FE0FA2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Transform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ED71E-C922-4AFA-8702-FF3EBCCF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docs to plans, logs to causes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D3656-6009-45B3-9F3D-0F0BA91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3086100" cy="11144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F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47912-E400-46E6-B589-4BA7801A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148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A276C-3557-4073-8BA7-81BA9CC7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ACAD0-1AEB-4D81-BB85-85D63CB0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815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intent, risk, priority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0C95F-6555-44BD-BD8E-D231AD0C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-419100" cy="1819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F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7B9C0-0C0D-461F-BE87-5307C9A6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48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31D2A-05F4-4BA3-A320-3CD5DE03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101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6C85C-8C90-4C5E-AC6C-DB75100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8637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technical concepts for people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480D1-8F7E-47CC-9618-732810C5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-3505200" cy="11144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9BFA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2D492-9FA9-47DB-9B0A-2BBBC910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148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9AEC8-FCE7-4522-9BAA-89E77B75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5AB7D-78C0-42DD-BAB6-6C4778D6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multi-step analysis over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B97E44-DA50-4C72-A4A1-D336697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Useful alone, but still bounded to prediction and generation until something executes the next step.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D30121-60DE-4DB1-8DD8-8D852597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0C0A42-1FD5-4B68-8038-9DCC6C1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F4241B-798A-4019-A598-05A92630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5790749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BED03D2-D41B-46D0-8F7E-610F1934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3F3B48A-A7D3-482A-835E-8ABA9552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E15A4A-A160-4ECB-B7CB-6EE2BD9C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LLM VS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3B674-03A9-4F9C-91DD-9A7E644D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LLM-only stops at advice; an agent owns the execution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309B5-8ACF-4278-AC40-E855FD9A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LLM-only interaction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0DBCD-E413-4F28-A774-A10CA42C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AI agent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70A59-EBD4-453D-8E65-28CEEB0D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47850"/>
            <a:ext cx="0" cy="33147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B9AE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3F095-58E2-4529-9924-92610EDB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3638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C9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D1A0D-98FB-4422-832E-C3BDDA79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73565-EB87-4835-857A-20AA9F7B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prompt +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F247C-0B8F-4D3B-A8CC-E7A8C40E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3638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C9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A4B9E-3966-418E-B9C7-A1CBE650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Reasoning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463C4-AD0C-4526-BD5B-E45AE9A5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draft answer or 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249D0-9101-46D7-A816-585BC00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638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C9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31512-0936-4921-891B-063E6F5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37B7F-F506-47BF-97B1-083D5B60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text returned to 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E9B73-7797-49D6-BA82-CD3FBC5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3638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C9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A6D3C-E9E8-452F-937C-6B9F7800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BDCDA-5845-4C79-B61F-C775F6F3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human must execute and 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E88F8-1E55-49E7-9003-6987B2A6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3638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B8C7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885C2-7EDA-484F-9E34-D6931C70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384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5CDD2-7F02-4808-970E-CEF93C41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story + acceptance criteria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9E648-79AE-417E-A7A6-3567F95C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67050"/>
            <a:ext cx="3638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B8C7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11EEF-862E-4CAB-B066-51C2E4CE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7AC94-FD29-4516-B738-9347E75A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decompose and choose tools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2FEEF-F396-4310-96D5-C2A1A3B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90950"/>
            <a:ext cx="3638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B8C7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2DFDC-B10E-40AF-A1C2-4A300C0C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FEAF4B-F1BD-484C-9FB3-BA3A7384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edit files, run CLI, call MCP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01C6FC-8A0D-4AFE-94F9-4332453F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3638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5A51DE-B6E8-4D7F-9DD8-E644AFB9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462755-B13D-492C-B587-91A59355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29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tests, lint, review, commit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78F4F1-35AB-4E86-BFA3-E910178A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71875"/>
            <a:ext cx="14859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8893C5-4CDF-4F07-A4D1-49FFB859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5D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3F"/>
                </a:solidFill>
                <a:latin typeface="Aptos"/>
                <a:ea typeface="Aptos"/>
                <a:cs typeface="Aptos"/>
              </a:rPr>
              <a:t>add state + tools + feedback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00405F-DEA4-44ED-9C02-7B8F96FE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62600"/>
            <a:ext cx="885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6F0FC8-8F20-49F8-8D4E-6F87D2E7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817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agent is the system boundary that can prove the work was actually done.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AF7EDD-B43A-4ECE-A813-54610C7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95D623-BE98-4E5F-871E-16E258B2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D9E1B4-5E29-4A09-8B36-D19554F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4010226"/>
      </p:ext>
    </p:extLst>
  </p:cSld>
  <p:transition spd="med">
    <p:fade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961434A-DE4A-4E74-A334-0DE799CC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CF0E93-6CCF-4605-99C5-A1B4970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D66A5F-A183-41D4-9B9F-EAABC620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5E248-DDD5-4702-8E6B-6E62835D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An AI agent is a controlled system: model, state, tools, policy, and verification.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DD8FD-A264-4DE1-82F7-BBCF4220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765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DAEA7-704F-41E6-8FD6-1E785E3B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74649-B479-4C69-A341-AF701434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241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AF133-3DF8-4614-A0AF-87B28BEC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765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6CCD8-4017-4847-8DCB-487998A2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 repo, PRD, docs,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5FFA8-CE47-4385-A98E-AFE660C5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971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202F2-FB71-4DE0-93F3-230E118E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9DD36-8BD6-4C81-9D16-7A2771D2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145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7BAC89-2540-4353-BA24-95EC01B5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select story, tasks,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55E4B-DC3B-4C37-A0BF-C740D79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838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8E2A5-E203-49DD-8C5B-97E8FF6E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FA35A-C277-4C5E-965D-81F403BB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765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5D3F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18DEE-B650-446D-A1B5-63F9ABA2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edit, call CLI, call MCP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A9305-0323-4065-9ADD-8CA76F16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933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D6E64-3B51-4DCB-A5EB-189233E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911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9FE24D-78A0-479A-AC56-B48FB0AA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435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EAAC2-89F3-4B78-8042-D626E88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48300"/>
            <a:ext cx="184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tests, lint, review,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02458-54BB-46D8-8D2A-A62D9123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895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2E6A3-7236-4E75-BBED-586EFC80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3BB3F-8D5A-4DDF-A2A7-DDAB97F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03BEE-2DB1-4413-B7DB-0FDE9BCA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4647984"/>
      </p:ext>
    </p:extLst>
  </p:cSld>
  <p:transition spd="med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779711-4CF4-4111-82E1-F9B5DC35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A7C5F8-27A5-4B7C-AA55-8431F2A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3C68C1-BBB8-427A-9361-2D0BF74E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E4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E4D6"/>
                </a:solidFill>
                <a:latin typeface="Aptos"/>
                <a:ea typeface="Aptos"/>
                <a:cs typeface="Aptos"/>
              </a:rPr>
              <a:t>RUNTIME 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C2D3F-4E00-4AC4-9160-67FAA54D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Skills, MCPs, and CLIs are the agent's production interface to the real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ECBEA-CE54-4340-A999-757F54ED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00200"/>
            <a:ext cx="714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1E1A"/>
          </a:solidFill>
          <a:ln xmlns:a="http://schemas.openxmlformats.org/drawingml/2006/main" w="9525">
            <a:solidFill>
              <a:srgbClr val="4350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B9CA9-BC46-4D35-8CFE-48CD4AF4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5D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5D3F"/>
                </a:solidFill>
                <a:latin typeface="Aptos"/>
                <a:ea typeface="Aptos"/>
                <a:cs typeface="Aptos"/>
              </a:rPr>
              <a:t>User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3273D-DF55-480F-9207-DB247654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9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5D9E0"/>
                </a:solidFill>
                <a:latin typeface="Aptos"/>
                <a:ea typeface="Aptos"/>
                <a:cs typeface="Aptos"/>
              </a:rPr>
              <a:t>acceptance criteria, priority,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04622-529B-4E96-BC2E-FCA88E8D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52650"/>
            <a:ext cx="685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C2638"/>
          </a:solidFill>
          <a:ln xmlns:a="http://schemas.openxmlformats.org/drawingml/2006/main" w="9525">
            <a:solidFill>
              <a:srgbClr val="4350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E6048-CABF-46AE-86E2-FFF73EBC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479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 orchestrator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14144-E4B4-453B-BB7E-19C8654D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3352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9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5D9E0"/>
                </a:solidFill>
                <a:latin typeface="Aptos"/>
                <a:ea typeface="Aptos"/>
                <a:cs typeface="Aptos"/>
              </a:rPr>
              <a:t>planning, context routing, tool choice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7BF0F-799A-427B-BB17-C7991DF6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6572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1B24"/>
          </a:solidFill>
          <a:ln xmlns:a="http://schemas.openxmlformats.org/drawingml/2006/main" w="9525">
            <a:solidFill>
              <a:srgbClr val="4350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D742A-8E50-43FD-B644-B8C6CAC6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01D25-2918-4823-85B4-447D2FFC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03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9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5D9E0"/>
                </a:solidFill>
                <a:latin typeface="Aptos"/>
                <a:ea typeface="Aptos"/>
                <a:cs typeface="Aptos"/>
              </a:rPr>
              <a:t>reasoning and artifact generation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D788E-CF5B-4201-BC6C-8C03154C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628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02C22"/>
          </a:solidFill>
          <a:ln xmlns:a="http://schemas.openxmlformats.org/drawingml/2006/main" w="9525">
            <a:solidFill>
              <a:srgbClr val="4350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5460C-380A-4F7A-95C6-33E46798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52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EF754-9BFA-432F-8C64-D27BEF4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5280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9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5D9E0"/>
                </a:solidFill>
                <a:latin typeface="Aptos"/>
                <a:ea typeface="Aptos"/>
                <a:cs typeface="Aptos"/>
              </a:rPr>
              <a:t>local playbooks that encode domain procedure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024AC-C1A6-4E46-948A-EF19CCD6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10000"/>
            <a:ext cx="600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2415"/>
          </a:solidFill>
          <a:ln xmlns:a="http://schemas.openxmlformats.org/drawingml/2006/main" w="9525">
            <a:solidFill>
              <a:srgbClr val="4350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9FCF2-C776-492B-8E56-6563320D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052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MCP servers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972CA-5B77-457D-B330-53135043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9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5D9E0"/>
                </a:solidFill>
                <a:latin typeface="Aptos"/>
                <a:ea typeface="Aptos"/>
                <a:cs typeface="Aptos"/>
              </a:rPr>
              <a:t>structured access to apps, data, docs, browsers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E9F88-1333-4607-AC95-443343E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571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2530"/>
          </a:solidFill>
          <a:ln xmlns:a="http://schemas.openxmlformats.org/drawingml/2006/main" w="9525">
            <a:solidFill>
              <a:srgbClr val="4350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4F730-89E9-4F57-A93C-4735D9F0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57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1308C-8E21-4B40-8A14-67659BFA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9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5D9E0"/>
                </a:solidFill>
                <a:latin typeface="Aptos"/>
                <a:ea typeface="Aptos"/>
                <a:cs typeface="Aptos"/>
              </a:rPr>
              <a:t>deterministic actions: yalla, git, tests,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1B83A-9ADA-4C54-9340-F1BADA9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14900"/>
            <a:ext cx="542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2D26"/>
          </a:solidFill>
          <a:ln xmlns:a="http://schemas.openxmlformats.org/drawingml/2006/main" w="9525">
            <a:solidFill>
              <a:srgbClr val="4350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175B3-CE0D-400B-BEA3-51464EDE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01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Evidence 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23237-187A-4C68-80F0-3993FF8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5D9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5D9E0"/>
                </a:solidFill>
                <a:latin typeface="Aptos"/>
                <a:ea typeface="Aptos"/>
                <a:cs typeface="Aptos"/>
              </a:rPr>
              <a:t>repo, CI, logs, progress, audit trail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2EB0B-D86D-4A97-9A41-19A19FFE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2133600" cy="2209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F82DA7-4EEF-4FEE-9402-37F208F7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Yalla example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7631C-9660-4472-A84D-5BC7CE94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1581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CLI gives agents a stable command contract: JSON output, typed errors, deterministic waits, and safe composite operations.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04D97-ABB2-4F85-87D6-3A93D4F1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4405E0-21F3-40F3-9F74-149C7CC1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machine-readable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e1e66e14e4f05"/>
          <a:stretch xmlns:a="http://schemas.openxmlformats.org/drawingml/2006/main"/>
        </p:blipFill>
        <p:spPr>
          <a:xfrm xmlns:a="http://schemas.openxmlformats.org/drawingml/2006/main">
            <a:off x="9678678" y="4686300"/>
            <a:ext cx="359395" cy="3238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B9F14-A121-43E0-AA6B-0334E17A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33B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6C434A-F265-4D32-85E1-6866D768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C7D2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DA0B0C-5D33-48BE-B376-E322143F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C7D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712483"/>
      </p:ext>
    </p:extLst>
  </p:cSld>
  <p:transition spd="med">
    <p:fade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8B4A3A2-40D1-489B-A120-737F02B4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1A7888-346E-45F1-9EC6-C678638E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D5F60C-A402-49F5-A720-1E4E21EF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RALPH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5F8EF-3570-47DA-A17C-05E8910C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Ralph loop turns a PRD into repeated verified commits.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D6DDC-E592-4632-AFC6-FFB7BADC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5527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98EC1-FC33-4E26-AE37-EEBF4077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943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repeat until sprint stories are done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C0C46-A6E9-4FFC-B63D-0528932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DD5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DD5DF"/>
                </a:solidFill>
                <a:latin typeface="Aptos"/>
                <a:ea typeface="Aptos"/>
                <a:cs typeface="Aptos"/>
              </a:rPr>
              <a:t>commit only after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D7B91-D590-40D3-BFA5-D9A8922A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192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10D22-90E7-4611-BE86-761AC3C2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95E19-2DAD-4829-842E-289B0118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310D7-0287-43DD-83D8-B70A1294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716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Read PRD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70BCE-CE0C-4158-B382-B0E15717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ralph/prd.json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7BAB2-E4CD-4DEC-A672-A0E414F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678" y="2414588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E08E1-312C-4908-B6A9-CDD98DB5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6A2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38979-72EC-4A98-B370-6640AC7B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A1D3A-F14D-4023-82CD-D69A1290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479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76FB1-A87A-4F2E-A1A9-3C460A66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Pick next failing 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4158D-0C6C-4836-A764-1C93CFAD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highest priority passes=false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F2912-BEAA-442F-BA24-5AD15A68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455" y="386334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342B7-8CCF-4667-AD03-62800C38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D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3F840-6BFD-445E-97A8-288672D9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4B783-3AC6-43F0-BAEE-F395F4D8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AC6DC-36F4-42ED-92E8-193146D4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00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Implement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BC591-E4C4-4A4F-A6AF-EA8D069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054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bounded code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CD663-3BBA-470A-8ED2-CD7AFCAF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893" y="50577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C86043-C488-4912-A16A-D1F6A43B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482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7F54A-146F-42B7-8998-53E11678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4AC26-6D5D-437F-95A0-2603B4FE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196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FEEABD-63A2-429D-9D78-F58284CF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006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8C096-6C5C-4C6B-969B-331B05CB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gofmt, tests, vet, 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1E27B-2D0E-411D-A1EB-365A79BA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273" y="408051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4AC638-1C0A-4525-8BB5-E19AA251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765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F27DD-765C-4E71-A681-39F9E67E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2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3349CE-8B2B-4C85-8AEA-F7604678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BBF0E-6D43-4A4F-B239-3720F19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Record progress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20A76-CF55-4281-B50A-6B081A43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progress.txt + PRD update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499AB4-A7C4-4ADB-8FA1-5A494F61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053" y="2500313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97D613-936C-4E95-9F11-EFC820D1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077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9525">
            <a:solidFill>
              <a:srgbClr val="B4D7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C83BF1-193F-444E-BF9D-56A35C2E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67375"/>
            <a:ext cx="942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The loop is fast because each story is narrow; it is production-grade because every pass leaves test evidence and durable progress.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8FA79A-3322-4903-A434-C3D701DC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6772FB-09CC-4003-9A7B-A2C12CFA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1EEF55-ABCE-486C-8A1B-E83574D5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615996"/>
      </p:ext>
    </p:extLst>
  </p:cSld>
  <p:transition spd="med">
    <p:fade/>
  </p:transition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527BD36-8A14-4D99-8C64-109F03C3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033DA5-EF9E-471E-B9A0-394F9A04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BB8F363-5594-4C01-A415-7250CBA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E4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E4D6"/>
                </a:solidFill>
                <a:latin typeface="Aptos"/>
                <a:ea typeface="Aptos"/>
                <a:cs typeface="Aptos"/>
              </a:rPr>
              <a:t>SPRINT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910AF-5509-4A24-8F9A-BBFC6B2B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Sprint acceleration comes from shrinking handoffs and running bounded stories through verified loops.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6FC82-47FC-4F41-A45B-70FBAD52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D1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1DC"/>
                </a:solidFill>
                <a:latin typeface="Aptos"/>
                <a:ea typeface="Aptos"/>
                <a:cs typeface="Aptos"/>
              </a:rPr>
              <a:t>Backlog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89211-7E8E-4904-B42C-E20923A8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95500"/>
            <a:ext cx="0" cy="3276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38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34A61-66F3-4531-9470-61E770A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D1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1DC"/>
                </a:solidFill>
                <a:latin typeface="Aptos"/>
                <a:ea typeface="Aptos"/>
                <a:cs typeface="Aptos"/>
              </a:rPr>
              <a:t>Story selected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8A42C-1855-4193-B044-B067E47D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0" cy="3276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38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4F45-7E8A-486A-8BB1-0DDA25A6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D1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1DC"/>
                </a:solidFill>
                <a:latin typeface="Aptos"/>
                <a:ea typeface="Aptos"/>
                <a:cs typeface="Aptos"/>
              </a:rPr>
              <a:t>Code changed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941D0-9B60-438B-BB08-61E6F7C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95500"/>
            <a:ext cx="0" cy="3276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38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EAD25-9588-44DF-9AEF-E584F3E6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D1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1DC"/>
                </a:solidFill>
                <a:latin typeface="Aptos"/>
                <a:ea typeface="Aptos"/>
                <a:cs typeface="Aptos"/>
              </a:rPr>
              <a:t>Checks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99D7C-F1ED-47C5-8A36-87DFF0D8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95500"/>
            <a:ext cx="0" cy="3276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38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64D6C-F0FE-4B4D-B8CA-DD2B555D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D1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1DC"/>
                </a:solidFill>
                <a:latin typeface="Aptos"/>
                <a:ea typeface="Aptos"/>
                <a:cs typeface="Aptos"/>
              </a:rPr>
              <a:t>Committed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79869-2745-43CF-80AB-C246A12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0" cy="3276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F38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A6773-F72B-415F-9C7B-63B77C9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8001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25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4E4EE-61C7-4501-8359-398FBCC5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US-01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89A35-D764-458D-B7B2-276394B8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05050"/>
            <a:ext cx="7924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AAF50-E0EE-40D8-914D-4C6F00C8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52675"/>
            <a:ext cx="769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done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9DA44-3A37-40A0-B79C-5F61614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8001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25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5EC1E-2700-4821-B585-B3A011C0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US-02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F9B9F-E910-41EE-8D6B-953BA86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7924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D5DE8-736E-4442-826D-9091B625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57525"/>
            <a:ext cx="769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done with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A5E15-03A4-4A4A-BEBD-5A3B27A6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8001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25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539BE-C2B7-43BC-8FC4-2DE5C54A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US-03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23132-02A1-450F-83C5-610F590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6115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A23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5D6FA-9872-479C-8C93-22EE7C7D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588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verification running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19E76-9250-4178-9860-DDF14182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8001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B25"/>
          </a:solidFill>
          <a:ln xmlns:a="http://schemas.openxmlformats.org/drawingml/2006/main" w="9525">
            <a:solidFill>
              <a:srgbClr val="2D37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E6C24-54BC-4F23-92E8-A76576C3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US-04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93D84-E279-4AB0-A350-3D35B771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9600"/>
            <a:ext cx="4305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5D3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060325-8023-4B9C-9AC9-00C8D17F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67225"/>
            <a:ext cx="407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 active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A9D826-EA20-477B-A09B-3A24E014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076450" cy="24193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8823C-DB89-45AA-AE85-1F79C209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Operating target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5A9F8-26E9-4147-AFC5-645EF1CE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150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Finish sprint stories in hours by removing idle handoffs, not by skipping engineering controls.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4C222-09AB-4115-8278-D9BF249C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67150"/>
            <a:ext cx="1314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25F830-95CF-4440-B0DE-BB1346EB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3382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parallel loops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986E61-E4F0-4889-BB72-8F4C566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83BBE6-030A-492F-836B-D0E2F348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338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gates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E5F4E9-C889-43A0-AF7B-BC183CE1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02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9D1D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1DC"/>
                </a:solidFill>
                <a:latin typeface="Aptos"/>
                <a:ea typeface="Aptos"/>
                <a:cs typeface="Aptos"/>
              </a:rPr>
              <a:t>No production claim should be accepted until the loop reports test evidence, changed files, and remaining risks.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51C936-2710-43D4-BCED-540CD7AE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33B4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99A9A8-195F-4359-A74F-A5A9884C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C7D2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9A4D3A-1520-4610-A629-4C1B636D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C7D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5385848"/>
      </p:ext>
    </p:extLst>
  </p:cSld>
  <p:transition spd="med">
    <p:fade/>
  </p:transition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255BB72-7028-4A14-8021-DA539782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678C35-C2D2-4C47-84BD-EB891BE7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223C4A-170A-4B82-9626-F6A30F1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PRODUCTION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89BCB-D4DF-497D-88E4-A0942E60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Production-grade automation is bounded by contracts, permissions, verification, and audit.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54B00-111F-499E-A563-D660EC93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E5267-94E1-4469-B2D2-AF0042C0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BF908-C925-4ED7-8D88-6F4C7226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C1263-5373-45F2-98A9-CF79F9A9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050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499D0-978D-4CC8-9D26-7256EE95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3581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6AC32-AB0F-4DC5-AA63-1E99E78D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05000"/>
            <a:ext cx="3276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98354-2D64-4867-9D24-C05359B5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2330A-4654-4A6E-B10D-EB08ADE4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5C8CD-59ED-4041-834B-F9C8EC3E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4315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69851-573F-492B-A99C-92F12CE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Wrong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38B8E-F78C-476E-94E6-4AD9082E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Policy + tenant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8FE79-EB70-412C-9942-D4780994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331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required action, org/project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2D568-64A3-477A-B1F7-811BAA4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46679-9B9C-460C-9CB8-B2BCBFE3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337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F60A2-5AC4-4524-ADB7-004D4B1E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3370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BD376-178D-4FF6-9E50-AAA79AE7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Unsafe 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9D5D9-B0B5-435E-BCEF-3B77A18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480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MCP and CLI allowlists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0C321-7AA7-42A8-8789-F75128AB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331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stable commands, no raw secret 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C2290-5D22-49B8-97AA-CC359AA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3726C-4E6B-4DA9-9EF4-A06C6C5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C35C7-EFCC-4E5C-BF28-1E4B8C8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4B2DC-F4F1-4D19-A3C5-B59799E9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Silent failure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D21F0-FB9B-4607-99E6-9AB908FD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Typed errors + exit codes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A846D-F8F0-47AF-8F92-39C3E261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38550"/>
            <a:ext cx="331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machine-readable envelopes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E5C5C-A48C-4CDC-A3F8-54DA6FB2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E7B07-DFEE-4C22-890A-0D46FBF5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148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AC2A99-3BA4-442E-8EA1-78A65B29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1480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43DA16-DAE4-407E-AD96-158838C8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Bad code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41B4B-2E07-4A8C-AE3E-09A655A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291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Focused and full loops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9EF97B-D285-4907-B419-ECA40D1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331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gofmt, go vet, go test, race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50A40D-2011-4F08-8414-E85703E7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75678B-0649-4CFF-BFDB-0BC542EE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053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B3BF13-7F9E-4FDA-BBE0-2D885344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05350"/>
            <a:ext cx="3581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CB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5FF1AF-B123-49A9-81EE-FF01609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Lost context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3EA930-BE04-4011-A4E4-E76C29D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196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Progress log + PRD state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F7A36D-0D71-4F98-AB0B-224D748B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19650"/>
            <a:ext cx="331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334155"/>
                </a:solidFill>
                <a:latin typeface="Aptos Mono"/>
                <a:ea typeface="Aptos Mono"/>
                <a:cs typeface="Aptos Mono"/>
              </a:rPr>
              <a:t>passes flag, notes, commit message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885B87-5C12-4EFE-93CD-E8DAFD2D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14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DE8"/>
          </a:solidFill>
          <a:ln xmlns:a="http://schemas.openxmlformats.org/drawingml/2006/main" w="9525">
            <a:solidFill>
              <a:srgbClr val="F2B5A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E4870E-B502-48ED-9BA2-1002AA9E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53100"/>
            <a:ext cx="8553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The initiative is not 'let AI code freely'; it is a constrained delivery system with auditable outcomes.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7A3248-D9AD-484B-AFD1-40AE84F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ED6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11511A-0860-4649-9BB3-EA4E32A5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410BFD-CFB7-4035-B99D-F92D1C31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7392417"/>
      </p:ext>
    </p:extLst>
  </p:cSld>
  <p:transition spd="med">
    <p:fade/>
  </p:transition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C6246B-A044-4B4B-BA9C-FF1B53B3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8C2688B-9915-4A2F-A02C-CAD1EDC0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FAE32C-A8C7-44F5-8757-9EECF33F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9e2692ddd41fb"/>
          <a:stretch xmlns:a="http://schemas.openxmlformats.org/drawingml/2006/main"/>
        </p:blipFill>
        <p:spPr>
          <a:xfrm xmlns:a="http://schemas.openxmlformats.org/drawingml/2006/main">
            <a:off x="10344382" y="514350"/>
            <a:ext cx="380535" cy="342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B4DE5-692B-488F-9FE5-182696A9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Launch the initiative as a governed delivery system, not an experiment.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CB7D3-FEFC-47BF-A50B-55906FF6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857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67E60-E6F6-488F-AB77-C681594E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251CA-9FAD-4BC6-8F1C-D10F1CC5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9F34F-8FBB-48A2-9D2B-E0CED381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28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44556-3997-4367-8678-BE7620D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57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Pilot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0CA44-7F32-4CE9-8F26-6A356993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Pick a narrow repo area, codify skills, run Ralph on low-risk stories, measure cycle time and defect rate.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6BA7C-F47B-4F1D-B94E-55EF953B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242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6CACA-1994-47C4-9D84-F9CC5665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857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40D3A-3FDF-4840-8FC6-E23DB6B8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DEE99-D2C2-4FE3-9B42-4AFFAAA7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242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1D357-F725-49CA-AE37-F2D2916B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028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A2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A23A"/>
                </a:solidFill>
                <a:latin typeface="Aptos"/>
                <a:ea typeface="Aptos"/>
                <a:cs typeface="Aptos"/>
              </a:rPr>
              <a:t>60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B34BC-33B9-4347-AF4F-5C4763EC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57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Scale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F1C1A-008D-452F-8CB7-1043AD5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9095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Add MCP/CLI allowlists, CI evidence capture, reviewer rubric, and sprint-level reporting.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8D184-7C09-45C3-90C1-4382FAF0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242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907AC-9E8F-4033-8247-27F5423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857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C46D9-1EC2-4310-9001-7B60688D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6E1E9-E4A1-41CF-A3EB-9EA16A68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A7B8B-651E-4557-BF74-5DABA547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90 days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BBB72-20AC-41F2-A772-FD27DA35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57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Team 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6AB52E-5BD1-4448-A770-7465E26B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multiple bounded agents per sprint, publish playbooks, and enforce gates before merge.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8338E1-CE5B-4F7F-B273-E98F9FDE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420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FE98C-3862-401A-9D98-C5739709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81625"/>
            <a:ext cx="7734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ask: approve a controlled pilot with explicit success metrics and non-negotiable verification gates.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EB42C-D757-4589-807C-0C0A00A1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9810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33B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D0C7DA-5D20-49D3-83A8-CF3BF67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C7D2"/>
                </a:solidFill>
                <a:latin typeface="Aptos"/>
                <a:ea typeface="Aptos"/>
                <a:cs typeface="Aptos"/>
              </a:rPr>
              <a:t>AI DELIVERY INITIATIVE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B7B32-C5AF-44A0-9C7E-A89C617B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FC7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C7D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4803740"/>
      </p:ext>
    </p:extLst>
  </p:cSld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2026-05-15T08:03:08.6200000Z</dcterms:created>
  <dcterms:modified xsi:type="dcterms:W3CDTF">2026-05-15T08:03:08.6210000Z</dcterms:modified>
</coreProperties>
</file>